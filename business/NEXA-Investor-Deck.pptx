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adoring-gifted-cori/mnt/Nexa/assets/nexa-mark-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40080"/>
            <a:ext cx="1371600" cy="1371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31520" y="2286000"/>
            <a:ext cx="100584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7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NEXA</a:t>
            </a:r>
            <a:endParaRPr lang="en-US" sz="7200" dirty="0"/>
          </a:p>
        </p:txBody>
      </p:sp>
      <p:sp>
        <p:nvSpPr>
          <p:cNvPr id="4" name="Text 1"/>
          <p:cNvSpPr/>
          <p:nvPr/>
        </p:nvSpPr>
        <p:spPr>
          <a:xfrm>
            <a:off x="777240" y="34290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AI Workforce Operating System</a:t>
            </a:r>
            <a:endParaRPr lang="en-US" sz="2400" dirty="0"/>
          </a:p>
        </p:txBody>
      </p:sp>
      <p:sp>
        <p:nvSpPr>
          <p:cNvPr id="5" name="Text 2"/>
          <p:cNvSpPr/>
          <p:nvPr/>
        </p:nvSpPr>
        <p:spPr>
          <a:xfrm>
            <a:off x="777240" y="4114800"/>
            <a:ext cx="877824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 autonomous AI employees that execute real work across your company — supervised by you, operated by them.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777240" y="6035040"/>
            <a:ext cx="54864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Investor overview ·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Manual operations break growing companies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⏳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548640" y="2148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Hours lost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548640" y="265176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 spend thousands of hours a year on repetitive admin instead of judgement and growth.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4297680" y="15544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2976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4297680" y="2148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Hiring doesn’t scale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297680" y="265176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new function means another headcount — slow, costly, hard to reverse.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8046720" y="15544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12" name="Text 10"/>
          <p:cNvSpPr/>
          <p:nvPr/>
        </p:nvSpPr>
        <p:spPr>
          <a:xfrm>
            <a:off x="80467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🧩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8046720" y="214884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Tools don’t act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046720" y="2651760"/>
            <a:ext cx="3383280" cy="16459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Most software shows information. Almost none of it does the actual work.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548640" y="4846320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i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“We don’t need more dashboards. We need the work done.”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Meet NEXA</a:t>
            </a:r>
            <a:endParaRPr lang="en-US" sz="3800" dirty="0"/>
          </a:p>
        </p:txBody>
      </p:sp>
      <p:sp>
        <p:nvSpPr>
          <p:cNvPr id="3" name="Text 1"/>
          <p:cNvSpPr/>
          <p:nvPr/>
        </p:nvSpPr>
        <p:spPr>
          <a:xfrm>
            <a:off x="548640" y="1463040"/>
            <a:ext cx="1060704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digital labour platform: AI employees that read context, decide, and carry out real work inside the tools you already use.</a:t>
            </a:r>
            <a:endParaRPr lang="en-US" sz="1700" dirty="0"/>
          </a:p>
        </p:txBody>
      </p:sp>
      <p:sp>
        <p:nvSpPr>
          <p:cNvPr id="4" name="Shape 2"/>
          <p:cNvSpPr/>
          <p:nvPr/>
        </p:nvSpPr>
        <p:spPr>
          <a:xfrm>
            <a:off x="640080" y="256032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41A3C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868680" y="27432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68680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868680" y="38404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email, CRM, finance and chat to grasp the real situation.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4297680" y="256032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41A3C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26280" y="27432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000" dirty="0"/>
          </a:p>
        </p:txBody>
      </p:sp>
      <p:sp>
        <p:nvSpPr>
          <p:cNvPr id="10" name="Text 8"/>
          <p:cNvSpPr/>
          <p:nvPr/>
        </p:nvSpPr>
        <p:spPr>
          <a:xfrm>
            <a:off x="4526280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Decide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4526280" y="38404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Chooses the next best action against your goals and policies.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7955280" y="2560320"/>
            <a:ext cx="3291840" cy="2286000"/>
          </a:xfrm>
          <a:prstGeom prst="roundRect">
            <a:avLst>
              <a:gd name="adj" fmla="val 4000"/>
            </a:avLst>
          </a:prstGeom>
          <a:solidFill>
            <a:srgbClr val="141A3C"/>
          </a:solidFill>
          <a:ln w="12700">
            <a:solidFill>
              <a:srgbClr val="2A3566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8183880" y="2743200"/>
            <a:ext cx="73152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7C3AED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3000" dirty="0"/>
          </a:p>
        </p:txBody>
      </p:sp>
      <p:sp>
        <p:nvSpPr>
          <p:cNvPr id="14" name="Text 12"/>
          <p:cNvSpPr/>
          <p:nvPr/>
        </p:nvSpPr>
        <p:spPr>
          <a:xfrm>
            <a:off x="8183880" y="3383280"/>
            <a:ext cx="28346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Execute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8183880" y="3840480"/>
            <a:ext cx="2834640" cy="9144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it out in your live systems — and logs every step.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640080" y="5120640"/>
            <a:ext cx="10058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Supervised → autonomous. You dial up trust per employee.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platform. A whole digital team.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4630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77240" y="16642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employees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777240" y="21031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Named specialists for Operations, Sales, Finance, Support, Recruiting and Documents — each owns a function 24/7.</a:t>
            </a:r>
            <a:endParaRPr lang="en-US" sz="1250" dirty="0"/>
          </a:p>
        </p:txBody>
      </p:sp>
      <p:sp>
        <p:nvSpPr>
          <p:cNvPr id="6" name="Shape 4"/>
          <p:cNvSpPr/>
          <p:nvPr/>
        </p:nvSpPr>
        <p:spPr>
          <a:xfrm>
            <a:off x="4297680" y="14630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526280" y="16642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</a:t>
            </a:r>
            <a:endParaRPr lang="en-US" sz="1500" dirty="0"/>
          </a:p>
        </p:txBody>
      </p:sp>
      <p:sp>
        <p:nvSpPr>
          <p:cNvPr id="8" name="Text 6"/>
          <p:cNvSpPr/>
          <p:nvPr/>
        </p:nvSpPr>
        <p:spPr>
          <a:xfrm>
            <a:off x="4526280" y="21031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cockpit: live activity, metrics, approvals and an audit trail of every action taken.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8046720" y="146304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275320" y="166420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Marketplace</a:t>
            </a:r>
            <a:endParaRPr lang="en-US" sz="1500" dirty="0"/>
          </a:p>
        </p:txBody>
      </p:sp>
      <p:sp>
        <p:nvSpPr>
          <p:cNvPr id="11" name="Text 9"/>
          <p:cNvSpPr/>
          <p:nvPr/>
        </p:nvSpPr>
        <p:spPr>
          <a:xfrm>
            <a:off x="8275320" y="210312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new AI employees like apps. One click hires them into your workforce.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4747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77240" y="36758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Document engine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777240" y="41148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Ava generates Excel, Word and PowerPoint automatically — real files, on demand and on schedule.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4297680" y="34747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526280" y="36758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Approvals &amp; audit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4526280" y="41148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Human-in-the-loop approval queue plus a full, exportable audit log for trust and compliance.</a:t>
            </a:r>
            <a:endParaRPr lang="en-US" sz="1250" dirty="0"/>
          </a:p>
        </p:txBody>
      </p:sp>
      <p:sp>
        <p:nvSpPr>
          <p:cNvPr id="18" name="Shape 16"/>
          <p:cNvSpPr/>
          <p:nvPr/>
        </p:nvSpPr>
        <p:spPr>
          <a:xfrm>
            <a:off x="8046720" y="3474720"/>
            <a:ext cx="3566160" cy="1828800"/>
          </a:xfrm>
          <a:prstGeom prst="roundRect">
            <a:avLst>
              <a:gd name="adj" fmla="val 4000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8275320" y="3675888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Integrations</a:t>
            </a:r>
            <a:endParaRPr lang="en-US" sz="1500" dirty="0"/>
          </a:p>
        </p:txBody>
      </p:sp>
      <p:sp>
        <p:nvSpPr>
          <p:cNvPr id="20" name="Text 18"/>
          <p:cNvSpPr/>
          <p:nvPr/>
        </p:nvSpPr>
        <p:spPr>
          <a:xfrm>
            <a:off x="8275320" y="4114800"/>
            <a:ext cx="3108960" cy="10058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Sits above your stack — Gmail, HubSpot, Calendar, Exact and more, with least-privilege access.</a:t>
            </a:r>
            <a:endParaRPr lang="en-US" sz="1250" dirty="0"/>
          </a:p>
        </p:txBody>
      </p:sp>
      <p:sp>
        <p:nvSpPr>
          <p:cNvPr id="21" name="Text 19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548640"/>
            <a:ext cx="109728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product already does real work</a:t>
            </a:r>
            <a:endParaRPr lang="en-US" sz="3400" dirty="0"/>
          </a:p>
        </p:txBody>
      </p:sp>
      <p:sp>
        <p:nvSpPr>
          <p:cNvPr id="3" name="Text 1"/>
          <p:cNvSpPr/>
          <p:nvPr/>
        </p:nvSpPr>
        <p:spPr>
          <a:xfrm>
            <a:off x="640080" y="21031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438</a:t>
            </a:r>
            <a:endParaRPr lang="en-US" sz="5400" dirty="0"/>
          </a:p>
        </p:txBody>
      </p:sp>
      <p:sp>
        <p:nvSpPr>
          <p:cNvPr id="4" name="Text 2"/>
          <p:cNvSpPr/>
          <p:nvPr/>
        </p:nvSpPr>
        <p:spPr>
          <a:xfrm>
            <a:off x="64008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actions / day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3429000" y="21031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33h</a:t>
            </a:r>
            <a:endParaRPr lang="en-US" sz="5400" dirty="0"/>
          </a:p>
        </p:txBody>
      </p:sp>
      <p:sp>
        <p:nvSpPr>
          <p:cNvPr id="6" name="Text 4"/>
          <p:cNvSpPr/>
          <p:nvPr/>
        </p:nvSpPr>
        <p:spPr>
          <a:xfrm>
            <a:off x="342900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saved / day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217920" y="21031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CADCFC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98%</a:t>
            </a:r>
            <a:endParaRPr lang="en-US" sz="5400" dirty="0"/>
          </a:p>
        </p:txBody>
      </p:sp>
      <p:sp>
        <p:nvSpPr>
          <p:cNvPr id="8" name="Text 6"/>
          <p:cNvSpPr/>
          <p:nvPr/>
        </p:nvSpPr>
        <p:spPr>
          <a:xfrm>
            <a:off x="621792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performance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9006840" y="2103120"/>
            <a:ext cx="256032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5400" b="1" dirty="0">
                <a:solidFill>
                  <a:srgbClr val="10B98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828%</a:t>
            </a:r>
            <a:endParaRPr lang="en-US" sz="5400" dirty="0"/>
          </a:p>
        </p:txBody>
      </p:sp>
      <p:sp>
        <p:nvSpPr>
          <p:cNvPr id="10" name="Text 8"/>
          <p:cNvSpPr/>
          <p:nvPr/>
        </p:nvSpPr>
        <p:spPr>
          <a:xfrm>
            <a:off x="9006840" y="3200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return on cost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40080" y="4206240"/>
            <a:ext cx="10607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figures from the NEXA Command Center — every action approved or autonomous, and fully audited.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 large, fast-moving market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731520" y="164592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0A0F2C"/>
          </a:solidFill>
          <a:ln/>
        </p:spPr>
      </p:sp>
      <p:sp>
        <p:nvSpPr>
          <p:cNvPr id="4" name="Text 2"/>
          <p:cNvSpPr/>
          <p:nvPr/>
        </p:nvSpPr>
        <p:spPr>
          <a:xfrm>
            <a:off x="731520" y="20116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€400B+</a:t>
            </a:r>
            <a:endParaRPr lang="en-US" sz="4000" dirty="0"/>
          </a:p>
        </p:txBody>
      </p:sp>
      <p:sp>
        <p:nvSpPr>
          <p:cNvPr id="5" name="Text 3"/>
          <p:cNvSpPr/>
          <p:nvPr/>
        </p:nvSpPr>
        <p:spPr>
          <a:xfrm>
            <a:off x="731520" y="2971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35204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D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Global spend on the back-office labour NEXA automates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480560" y="164592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2563EB"/>
          </a:solidFill>
          <a:ln/>
        </p:spPr>
      </p:sp>
      <p:sp>
        <p:nvSpPr>
          <p:cNvPr id="8" name="Text 6"/>
          <p:cNvSpPr/>
          <p:nvPr/>
        </p:nvSpPr>
        <p:spPr>
          <a:xfrm>
            <a:off x="4480560" y="20116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€60B</a:t>
            </a:r>
            <a:endParaRPr lang="en-US" sz="4000" dirty="0"/>
          </a:p>
        </p:txBody>
      </p:sp>
      <p:sp>
        <p:nvSpPr>
          <p:cNvPr id="9" name="Text 7"/>
          <p:cNvSpPr/>
          <p:nvPr/>
        </p:nvSpPr>
        <p:spPr>
          <a:xfrm>
            <a:off x="4480560" y="2971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4754880" y="35204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D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SMB &amp; mid-market ops, finance, sales &amp; support software</a:t>
            </a:r>
            <a:endParaRPr lang="en-US" sz="1250" dirty="0"/>
          </a:p>
        </p:txBody>
      </p:sp>
      <p:sp>
        <p:nvSpPr>
          <p:cNvPr id="11" name="Shape 9"/>
          <p:cNvSpPr/>
          <p:nvPr/>
        </p:nvSpPr>
        <p:spPr>
          <a:xfrm>
            <a:off x="8229600" y="1645920"/>
            <a:ext cx="3291840" cy="3108960"/>
          </a:xfrm>
          <a:prstGeom prst="roundRect">
            <a:avLst>
              <a:gd name="adj" fmla="val 2941"/>
            </a:avLst>
          </a:prstGeom>
          <a:solidFill>
            <a:srgbClr val="7C3AED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0" y="2011680"/>
            <a:ext cx="329184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€1.2B</a:t>
            </a:r>
            <a:endParaRPr lang="en-US" sz="4000" dirty="0"/>
          </a:p>
        </p:txBody>
      </p:sp>
      <p:sp>
        <p:nvSpPr>
          <p:cNvPr id="13" name="Text 11"/>
          <p:cNvSpPr/>
          <p:nvPr/>
        </p:nvSpPr>
        <p:spPr>
          <a:xfrm>
            <a:off x="8229600" y="2971800"/>
            <a:ext cx="3291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8503920" y="3520440"/>
            <a:ext cx="2743200" cy="10972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50" dirty="0">
                <a:solidFill>
                  <a:srgbClr val="D6D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Reachable EU mid-market in the first 5 years</a:t>
            </a:r>
            <a:endParaRPr lang="en-US" sz="1250" dirty="0"/>
          </a:p>
        </p:txBody>
      </p:sp>
      <p:sp>
        <p:nvSpPr>
          <p:cNvPr id="15" name="Text 13"/>
          <p:cNvSpPr/>
          <p:nvPr/>
        </p:nvSpPr>
        <p:spPr>
          <a:xfrm>
            <a:off x="548640" y="502920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Agentic AI is moving from copilots to coworkers — budget shifts from software seats to labour.</a:t>
            </a:r>
            <a:endParaRPr lang="en-US" sz="1400" dirty="0"/>
          </a:p>
        </p:txBody>
      </p:sp>
      <p:sp>
        <p:nvSpPr>
          <p:cNvPr id="16" name="Text 14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Business model: priced like headcount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73152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€499</a:t>
            </a:r>
            <a:endParaRPr lang="en-US" sz="2800" dirty="0"/>
          </a:p>
        </p:txBody>
      </p:sp>
      <p:sp>
        <p:nvSpPr>
          <p:cNvPr id="6" name="Text 4"/>
          <p:cNvSpPr/>
          <p:nvPr/>
        </p:nvSpPr>
        <p:spPr>
          <a:xfrm>
            <a:off x="731520" y="3063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 · 1 AI employee</a:t>
            </a:r>
            <a:endParaRPr lang="en-US" sz="1200" dirty="0"/>
          </a:p>
        </p:txBody>
      </p:sp>
      <p:sp>
        <p:nvSpPr>
          <p:cNvPr id="7" name="Shape 5"/>
          <p:cNvSpPr/>
          <p:nvPr/>
        </p:nvSpPr>
        <p:spPr>
          <a:xfrm>
            <a:off x="3337560" y="1554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52044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Growth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352044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€1,499</a:t>
            </a:r>
            <a:endParaRPr lang="en-US" sz="2800" dirty="0"/>
          </a:p>
        </p:txBody>
      </p:sp>
      <p:sp>
        <p:nvSpPr>
          <p:cNvPr id="10" name="Text 8"/>
          <p:cNvSpPr/>
          <p:nvPr/>
        </p:nvSpPr>
        <p:spPr>
          <a:xfrm>
            <a:off x="3520440" y="3063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D6DEF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 · 5 employees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26480" y="1554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630936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30936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€4,999</a:t>
            </a:r>
            <a:endParaRPr lang="en-US" sz="2800" dirty="0"/>
          </a:p>
        </p:txBody>
      </p:sp>
      <p:sp>
        <p:nvSpPr>
          <p:cNvPr id="14" name="Text 12"/>
          <p:cNvSpPr/>
          <p:nvPr/>
        </p:nvSpPr>
        <p:spPr>
          <a:xfrm>
            <a:off x="6309360" y="3063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/mo · 25 · free Mac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8915400" y="1554480"/>
            <a:ext cx="2606040" cy="2377440"/>
          </a:xfrm>
          <a:prstGeom prst="roundRect">
            <a:avLst>
              <a:gd name="adj" fmla="val 3846"/>
            </a:avLst>
          </a:prstGeom>
          <a:solidFill>
            <a:srgbClr val="FFFF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9098280" y="173736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Enterprise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9098280" y="219456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Custom</a:t>
            </a:r>
            <a:endParaRPr lang="en-US" sz="2800" dirty="0"/>
          </a:p>
        </p:txBody>
      </p:sp>
      <p:sp>
        <p:nvSpPr>
          <p:cNvPr id="18" name="Text 16"/>
          <p:cNvSpPr/>
          <p:nvPr/>
        </p:nvSpPr>
        <p:spPr>
          <a:xfrm>
            <a:off x="9098280" y="3063240"/>
            <a:ext cx="228600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2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unlimited · private infra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548640" y="4297680"/>
            <a:ext cx="109728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i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Per-employee SaaS · expansion via more employees &amp; seats · annual plans lift cash and retention.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Why now — and why us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2F6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82296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now</a:t>
            </a:r>
            <a:endParaRPr lang="en-US" sz="1800" dirty="0"/>
          </a:p>
        </p:txBody>
      </p:sp>
      <p:sp>
        <p:nvSpPr>
          <p:cNvPr id="5" name="Text 3"/>
          <p:cNvSpPr/>
          <p:nvPr/>
        </p:nvSpPr>
        <p:spPr>
          <a:xfrm>
            <a:off x="822960" y="23774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Frontier models are finally reliable enough to act, not just suggest. Buyers want outcomes, not another tool. Budget is moving from seats to labour.</a:t>
            </a:r>
            <a:endParaRPr lang="en-US" sz="1450" dirty="0"/>
          </a:p>
        </p:txBody>
      </p:sp>
      <p:sp>
        <p:nvSpPr>
          <p:cNvPr id="6" name="Shape 4"/>
          <p:cNvSpPr/>
          <p:nvPr/>
        </p:nvSpPr>
        <p:spPr>
          <a:xfrm>
            <a:off x="6217920" y="1554480"/>
            <a:ext cx="5394960" cy="3108960"/>
          </a:xfrm>
          <a:prstGeom prst="roundRect">
            <a:avLst>
              <a:gd name="adj" fmla="val 2941"/>
            </a:avLst>
          </a:prstGeom>
          <a:solidFill>
            <a:srgbClr val="F4F2FF"/>
          </a:solidFill>
          <a:ln w="12700">
            <a:solidFill>
              <a:srgbClr val="E6E9F2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92240" y="1783080"/>
            <a:ext cx="4846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edge</a:t>
            </a:r>
            <a:endParaRPr lang="en-US" sz="1800" dirty="0"/>
          </a:p>
        </p:txBody>
      </p:sp>
      <p:sp>
        <p:nvSpPr>
          <p:cNvPr id="8" name="Text 6"/>
          <p:cNvSpPr/>
          <p:nvPr/>
        </p:nvSpPr>
        <p:spPr>
          <a:xfrm>
            <a:off x="6492240" y="2377440"/>
            <a:ext cx="484632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450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execution engine with built-in trust: supervised→autonomous dial, human-in-the-loop approvals, and a full audit log — on a product surface customers already love.</a:t>
            </a:r>
            <a:endParaRPr lang="en-US" sz="1450" dirty="0"/>
          </a:p>
        </p:txBody>
      </p:sp>
      <p:sp>
        <p:nvSpPr>
          <p:cNvPr id="9" name="Text 7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11480"/>
            <a:ext cx="11277295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400" b="1" dirty="0">
                <a:solidFill>
                  <a:srgbClr val="0A0A0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Roadmap</a:t>
            </a:r>
            <a:endParaRPr lang="en-US" sz="3400" dirty="0"/>
          </a:p>
        </p:txBody>
      </p:sp>
      <p:sp>
        <p:nvSpPr>
          <p:cNvPr id="3" name="Shape 1"/>
          <p:cNvSpPr/>
          <p:nvPr/>
        </p:nvSpPr>
        <p:spPr>
          <a:xfrm>
            <a:off x="548640" y="1554480"/>
            <a:ext cx="457200" cy="457200"/>
          </a:xfrm>
          <a:prstGeom prst="ellipse">
            <a:avLst/>
          </a:prstGeom>
          <a:solidFill>
            <a:srgbClr val="2563EB"/>
          </a:solidFill>
          <a:ln/>
        </p:spPr>
      </p:sp>
      <p:sp>
        <p:nvSpPr>
          <p:cNvPr id="4" name="Text 2"/>
          <p:cNvSpPr/>
          <p:nvPr/>
        </p:nvSpPr>
        <p:spPr>
          <a:xfrm>
            <a:off x="54864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1188720" y="1572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563E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Now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548640" y="2240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product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548640" y="27432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Command Center, marketplace, document engine, approvals, audit and ROI — all live today.</a:t>
            </a:r>
            <a:endParaRPr lang="en-US" sz="1350" dirty="0"/>
          </a:p>
        </p:txBody>
      </p:sp>
      <p:sp>
        <p:nvSpPr>
          <p:cNvPr id="8" name="Shape 6"/>
          <p:cNvSpPr/>
          <p:nvPr/>
        </p:nvSpPr>
        <p:spPr>
          <a:xfrm>
            <a:off x="4297680" y="1554480"/>
            <a:ext cx="457200" cy="457200"/>
          </a:xfrm>
          <a:prstGeom prst="ellipse">
            <a:avLst/>
          </a:prstGeom>
          <a:solidFill>
            <a:srgbClr val="7C3AED"/>
          </a:solidFill>
          <a:ln/>
        </p:spPr>
      </p:sp>
      <p:sp>
        <p:nvSpPr>
          <p:cNvPr id="9" name="Text 7"/>
          <p:cNvSpPr/>
          <p:nvPr/>
        </p:nvSpPr>
        <p:spPr>
          <a:xfrm>
            <a:off x="429768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4937760" y="1572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4297680" y="2240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connectors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4297680" y="27432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 Gmail, HubSpot &amp; Calendar via OAuth; 2 pilot customers; usage-based add-ons.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8046720" y="1554480"/>
            <a:ext cx="457200" cy="457200"/>
          </a:xfrm>
          <a:prstGeom prst="ellipse">
            <a:avLst/>
          </a:prstGeom>
          <a:solidFill>
            <a:srgbClr val="10B981"/>
          </a:solidFill>
          <a:ln/>
        </p:spPr>
      </p:sp>
      <p:sp>
        <p:nvSpPr>
          <p:cNvPr id="14" name="Text 12"/>
          <p:cNvSpPr/>
          <p:nvPr/>
        </p:nvSpPr>
        <p:spPr>
          <a:xfrm>
            <a:off x="8046720" y="1554480"/>
            <a:ext cx="457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5" name="Text 13"/>
          <p:cNvSpPr/>
          <p:nvPr/>
        </p:nvSpPr>
        <p:spPr>
          <a:xfrm>
            <a:off x="8686800" y="1572768"/>
            <a:ext cx="27432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0B98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Later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8046720" y="2240280"/>
            <a:ext cx="34747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A0A0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 &amp; network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8046720" y="2743200"/>
            <a:ext cx="3474720" cy="18288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 memory &amp; learning, multi-agent hand-offs, community marketplace with revenue share.</a:t>
            </a:r>
            <a:endParaRPr lang="en-US" sz="1350" dirty="0"/>
          </a:p>
        </p:txBody>
      </p:sp>
      <p:sp>
        <p:nvSpPr>
          <p:cNvPr id="18" name="Text 16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09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</a:t>
            </a:r>
            <a:endParaRPr lang="en-US" sz="1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0A0F2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sessions/adoring-gifted-cori/mnt/Nexa/assets/nexa-mark-trans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77240" y="640080"/>
            <a:ext cx="1005840" cy="10058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77240" y="1828800"/>
            <a:ext cx="10058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ask</a:t>
            </a:r>
            <a:endParaRPr lang="en-US" sz="4000" dirty="0"/>
          </a:p>
        </p:txBody>
      </p:sp>
      <p:sp>
        <p:nvSpPr>
          <p:cNvPr id="4" name="Text 1"/>
          <p:cNvSpPr/>
          <p:nvPr/>
        </p:nvSpPr>
        <p:spPr>
          <a:xfrm>
            <a:off x="777240" y="2743200"/>
            <a:ext cx="100584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Raising a pre-seed round to turn a proven product into a fundable company.</a:t>
            </a:r>
            <a:endParaRPr lang="en-US" sz="1800" dirty="0"/>
          </a:p>
        </p:txBody>
      </p:sp>
      <p:sp>
        <p:nvSpPr>
          <p:cNvPr id="5" name="Text 2"/>
          <p:cNvSpPr/>
          <p:nvPr/>
        </p:nvSpPr>
        <p:spPr>
          <a:xfrm>
            <a:off x="822960" y="3611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Engineering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822960" y="40690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connectors + reliability</a:t>
            </a:r>
            <a:endParaRPr lang="en-US" sz="1350" dirty="0"/>
          </a:p>
        </p:txBody>
      </p:sp>
      <p:sp>
        <p:nvSpPr>
          <p:cNvPr id="7" name="Text 4"/>
          <p:cNvSpPr/>
          <p:nvPr/>
        </p:nvSpPr>
        <p:spPr>
          <a:xfrm>
            <a:off x="4480560" y="3611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4480560" y="40690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2–3 lighthouse customers</a:t>
            </a:r>
            <a:endParaRPr lang="en-US" sz="1350" dirty="0"/>
          </a:p>
        </p:txBody>
      </p:sp>
      <p:sp>
        <p:nvSpPr>
          <p:cNvPr id="9" name="Text 6"/>
          <p:cNvSpPr/>
          <p:nvPr/>
        </p:nvSpPr>
        <p:spPr>
          <a:xfrm>
            <a:off x="8138160" y="3611880"/>
            <a:ext cx="33832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security</a:t>
            </a:r>
            <a:endParaRPr lang="en-US" sz="1600" dirty="0"/>
          </a:p>
        </p:txBody>
      </p:sp>
      <p:sp>
        <p:nvSpPr>
          <p:cNvPr id="10" name="Text 7"/>
          <p:cNvSpPr/>
          <p:nvPr/>
        </p:nvSpPr>
        <p:spPr>
          <a:xfrm>
            <a:off x="8138160" y="4069080"/>
            <a:ext cx="3383280" cy="7315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indent="0" marL="0">
              <a:buNone/>
            </a:pPr>
            <a:r>
              <a:rPr lang="en-US" sz="1350" dirty="0">
                <a:solidFill>
                  <a:srgbClr val="AAB4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SOC 2, audit, permissions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777240" y="598932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kkain25@gmail.com  ·  nexa.ai</a:t>
            </a:r>
            <a:endParaRPr lang="en-US" sz="1400" dirty="0"/>
          </a:p>
        </p:txBody>
      </p:sp>
      <p:sp>
        <p:nvSpPr>
          <p:cNvPr id="12" name="Text 9"/>
          <p:cNvSpPr/>
          <p:nvPr/>
        </p:nvSpPr>
        <p:spPr>
          <a:xfrm>
            <a:off x="11277295" y="640080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  <p:sp>
        <p:nvSpPr>
          <p:cNvPr id="13" name="Text 10"/>
          <p:cNvSpPr/>
          <p:nvPr/>
        </p:nvSpPr>
        <p:spPr>
          <a:xfrm>
            <a:off x="457200" y="640080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6B728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NEXA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2026-06-09T13:39:44Z</dcterms:created>
  <dcterms:modified xsi:type="dcterms:W3CDTF">2026-06-09T13:39:44Z</dcterms:modified>
</cp:coreProperties>
</file>